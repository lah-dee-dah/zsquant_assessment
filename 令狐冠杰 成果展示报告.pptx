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66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1"/>
  </p:normalViewPr>
  <p:slideViewPr>
    <p:cSldViewPr snapToGrid="0" snapToObjects="1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9E44-D25B-B544-B33F-3533FFFA9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63788-E6A4-FE4D-A487-EC0190CFA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67D32-4952-364E-B77C-AAC1887C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48D11-F726-294C-AED0-C0B2B06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FC2F1-E726-4841-B336-E392260B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5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E44A-63D0-FF41-9C4A-1CE5239C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77AD-688F-BC4D-80EA-67C8126A3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733E4-E6CB-BC43-8418-A4379521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2DE4D-8C93-8B44-B35B-8031282D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33E5A-83D7-7347-9263-4AEC0846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96B3-B626-C149-AAEE-54F444E2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5E2BA-2E75-994C-9EAD-E90C6157F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C1E4-16B0-2E46-8E98-A63BF83D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31A4-1B02-BE4F-B2AD-66743247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CB39B-C0AA-E543-A6BB-9005E2CF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6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F9DD-9921-CF4C-A784-FD0377D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D073C-BC50-6B4A-ABA8-EF1077C5D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51FC9-BAE6-5F4E-8113-D8C868090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588A7-D5A9-E14F-BFB6-65AE9538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F3EDA-CDC8-9B4B-AA77-567AE713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EB911-1095-B849-9752-8720F132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0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D112-2FF0-6B42-8EAE-A79AE79B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5FDF3-292A-4E47-B700-DC4F964ED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21298-4B5C-8E42-A5BF-86614D572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CBEA74-8522-0645-ADE4-2BC5F7FB0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D6768-7EDE-2A42-A20D-0AF7BCE2C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952D5-624A-5042-AFFF-ADD2BC97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D2BC6-0207-1742-8412-57CE3888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648C9E-B021-7343-8AE7-13494DF0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91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4E7D6-4681-1B4E-AADF-B788233A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4C0A4-2B4A-6545-B372-471B393B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BE0449-0519-2341-8733-8D6DD7F4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6F46E-A318-A84B-BC8B-A82361D7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F5DFA-09AE-F546-BA0D-F61171E2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50B10C-D621-2A48-BB39-F51A0451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4033A-F9EA-9745-A324-98C54586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0088-37C4-944C-ADBC-6F19200FD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70E6-0CEB-E243-A4D0-E72D8B93C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5D5B6-592D-F047-B9D7-3F68C1029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0F8DA-3ADD-7348-93D1-2D6E001E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ED4C3-97F6-9C4D-8CB1-EE02A22F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E745A-E140-694E-8CF6-62F5A65D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8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24C9-8B00-EA42-B563-4B096B9D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82A30-2DD4-E842-84A9-CCB3623CF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3CEB6-1147-474E-A04F-597D888D9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4ABBA-048A-5E44-A5EE-B01611D7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74749-FE48-4242-9067-3D6D1378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24470-859D-7146-8301-2A81C74A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4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0023-D91E-E049-A231-03DD1B23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94F9C-F35D-924B-8DFC-0AD5B536A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8599A-4CB7-6E4D-A089-07F4F807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48B8A-9E2D-0045-B65E-7DBB54B6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921D1-9332-5640-864E-00B73238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1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DE8B2-CB34-7C46-A80B-6C0200E3D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7BEF7-88BF-A541-8AFC-42F3C1EC0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B79A9-70D8-1144-9F75-DFAA0866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8662-D4C5-534F-9CAE-EECE6685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F893F-CC69-524A-9331-95844CC5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5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B3D58-517D-F849-A3E8-5851C483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AB713-840E-7347-ADE8-A0E219F3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314EC-90A0-B446-A372-02A95DCA9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6B7F0-8A84-154E-B57D-9B9D28EE5049}" type="datetimeFigureOut">
              <a:rPr lang="en-US" smtClean="0"/>
              <a:t>4/4/22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C343-1B79-1F46-8026-B43F14BE6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DAB68-0705-4F4C-A7AE-DF0B64846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2C198-496D-BA49-ACB7-85327699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0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6E621-ED2E-744B-8B82-48D4CBB79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 err="1">
                <a:latin typeface="+mj-lt"/>
                <a:ea typeface="+mj-ea"/>
                <a:cs typeface="+mj-cs"/>
              </a:rPr>
              <a:t>卓识基金数据测评项目</a:t>
            </a:r>
            <a:br>
              <a:rPr lang="en-US" kern="1200" dirty="0">
                <a:latin typeface="+mj-lt"/>
                <a:ea typeface="+mj-ea"/>
                <a:cs typeface="+mj-cs"/>
              </a:rPr>
            </a:br>
            <a:r>
              <a:rPr lang="en-US" kern="1200" dirty="0" err="1">
                <a:latin typeface="+mj-lt"/>
                <a:ea typeface="+mj-ea"/>
                <a:cs typeface="+mj-cs"/>
              </a:rPr>
              <a:t>成果报告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D04C6-F513-5F42-8592-E9D02494F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619624"/>
            <a:ext cx="10509504" cy="118004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1000" dirty="0"/>
          </a:p>
          <a:p>
            <a:r>
              <a:rPr lang="en-US" sz="1800" dirty="0" err="1"/>
              <a:t>令狐冠杰</a:t>
            </a:r>
            <a:endParaRPr lang="en-US" sz="1800" dirty="0"/>
          </a:p>
          <a:p>
            <a:r>
              <a:rPr lang="en-US" sz="1800" dirty="0"/>
              <a:t>https://</a:t>
            </a:r>
            <a:r>
              <a:rPr lang="en-US" sz="1800" dirty="0" err="1"/>
              <a:t>github.com</a:t>
            </a:r>
            <a:r>
              <a:rPr lang="en-US" sz="1800" dirty="0"/>
              <a:t>/</a:t>
            </a:r>
            <a:r>
              <a:rPr lang="en-US" sz="1800" dirty="0" err="1"/>
              <a:t>lah</a:t>
            </a:r>
            <a:r>
              <a:rPr lang="en-US" sz="1800" dirty="0"/>
              <a:t>-dee-dah/</a:t>
            </a:r>
            <a:r>
              <a:rPr lang="en-US" sz="1800" dirty="0" err="1"/>
              <a:t>zsquant_assessment.git</a:t>
            </a:r>
            <a:endParaRPr lang="en-US" sz="18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220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BA5B4D-CC76-C94B-9602-46A42D70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大纲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2727-10CF-6142-9C36-A8A1B64A1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zh-CN" altLang="en-US" sz="2200"/>
              <a:t>数据检查</a:t>
            </a:r>
            <a:endParaRPr lang="en-US" altLang="zh-CN" sz="2200"/>
          </a:p>
          <a:p>
            <a:endParaRPr lang="en-US" altLang="zh-CN" sz="2200"/>
          </a:p>
          <a:p>
            <a:r>
              <a:rPr lang="zh-CN" altLang="en-US" sz="2200"/>
              <a:t>分钟</a:t>
            </a:r>
            <a:r>
              <a:rPr lang="en-US" altLang="zh-CN" sz="2200"/>
              <a:t>bar</a:t>
            </a:r>
            <a:r>
              <a:rPr lang="zh-CN" altLang="en-US" sz="2200"/>
              <a:t>合成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03609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D0362-08B9-1F45-838A-1AF87317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数据检查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56784-2F61-4342-93BE-BF120F746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统计</a:t>
            </a:r>
            <a:r>
              <a:rPr lang="en-US" altLang="zh-CN" sz="2200" dirty="0" err="1"/>
              <a:t>LocalTime</a:t>
            </a:r>
            <a:r>
              <a:rPr lang="zh-CN" altLang="en-US" sz="2200" dirty="0"/>
              <a:t>的单调性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分交易所统计（</a:t>
            </a:r>
            <a:r>
              <a:rPr lang="en-US" altLang="zh-CN" sz="2200" dirty="0" err="1"/>
              <a:t>UpdateTime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UpdateMillisec</a:t>
            </a:r>
            <a:r>
              <a:rPr lang="zh-CN" altLang="en-US" sz="2200" dirty="0"/>
              <a:t>）单调性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探索每个交易所的</a:t>
            </a:r>
            <a:r>
              <a:rPr lang="en-US" altLang="zh-CN" sz="2200" dirty="0"/>
              <a:t>tick</a:t>
            </a:r>
            <a:r>
              <a:rPr lang="zh-CN" altLang="en-US" sz="2200" dirty="0"/>
              <a:t>的推送频率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探索</a:t>
            </a:r>
            <a:r>
              <a:rPr lang="en-US" altLang="zh-CN" sz="2200" dirty="0" err="1"/>
              <a:t>ActionDay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TradingDay</a:t>
            </a:r>
            <a:r>
              <a:rPr lang="zh-CN" altLang="en-US" sz="2200" dirty="0"/>
              <a:t>和实际交易时间的关系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对现有数据进行数据检查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5005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8DDF6-5769-AF46-9AAD-B4BE28C49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统计LocalTime的单调性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FC9C-8175-A145-9C9E-DDABB32C3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结果</a:t>
            </a:r>
            <a:r>
              <a:rPr lang="zh-CN" altLang="en-US" sz="2200"/>
              <a:t>：</a:t>
            </a:r>
            <a:r>
              <a:rPr lang="en-US" altLang="zh-CN" sz="2200"/>
              <a:t>LocalTime</a:t>
            </a:r>
            <a:r>
              <a:rPr lang="zh-CN" altLang="en-US" sz="2200"/>
              <a:t>字段的</a:t>
            </a:r>
            <a:r>
              <a:rPr lang="en-US" altLang="zh-CN" sz="2200"/>
              <a:t>19</a:t>
            </a:r>
            <a:r>
              <a:rPr lang="zh-CN" altLang="en-US" sz="2200"/>
              <a:t>位时间戳严格单调递增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66174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677E2-5ED2-FF42-85EE-73D4CFF9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分交易所统计UpdateTime, </a:t>
            </a:r>
            <a:r>
              <a:rPr lang="en-US" altLang="zh-CN" sz="3700"/>
              <a:t>UpdateMullisec</a:t>
            </a:r>
            <a:r>
              <a:rPr lang="zh-CN" altLang="en-US" sz="3700"/>
              <a:t>单调性</a:t>
            </a:r>
            <a:endParaRPr lang="en-US" sz="37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8D8A4-CA25-764D-8346-B439148E3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方法：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将</a:t>
            </a:r>
            <a:r>
              <a:rPr lang="en-US" sz="2200" dirty="0" err="1"/>
              <a:t>UpdateTime</a:t>
            </a:r>
            <a:r>
              <a:rPr lang="en-US" sz="2200" dirty="0"/>
              <a:t>, </a:t>
            </a:r>
            <a:r>
              <a:rPr lang="en-US" altLang="zh-CN" sz="2200" dirty="0" err="1"/>
              <a:t>UpdateMillisec</a:t>
            </a:r>
            <a:r>
              <a:rPr lang="zh-CN" altLang="en-US" sz="2200" dirty="0"/>
              <a:t>合并为新字段</a:t>
            </a:r>
            <a:r>
              <a:rPr lang="en-US" altLang="zh-CN" sz="2200" dirty="0" err="1"/>
              <a:t>UpdateTime_full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将</a:t>
            </a:r>
            <a:r>
              <a:rPr lang="en-US" altLang="zh-CN" sz="2200" dirty="0" err="1"/>
              <a:t>UpdateTime_full</a:t>
            </a:r>
            <a:r>
              <a:rPr lang="en-US" altLang="zh-CN" sz="2200" dirty="0"/>
              <a:t> </a:t>
            </a:r>
            <a:r>
              <a:rPr lang="zh-CN" altLang="en-US" sz="2200" dirty="0"/>
              <a:t>分为</a:t>
            </a:r>
            <a:r>
              <a:rPr lang="en-US" altLang="zh-CN" sz="2200" dirty="0"/>
              <a:t>0</a:t>
            </a:r>
            <a:r>
              <a:rPr lang="zh-CN" altLang="en-US" sz="2200" dirty="0"/>
              <a:t>点之前和</a:t>
            </a:r>
            <a:r>
              <a:rPr lang="en-US" altLang="zh-CN" sz="2200" dirty="0"/>
              <a:t>0</a:t>
            </a:r>
            <a:r>
              <a:rPr lang="zh-CN" altLang="en-US" sz="2200" dirty="0"/>
              <a:t>点之后两组分别检查，避免跨日导致的误判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在以上基础上根据交易所分组进行检查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在以上基础上根据交易所和合约名称分组进行检查</a:t>
            </a:r>
            <a:endParaRPr lang="en-US" altLang="zh-CN" sz="2200" dirty="0"/>
          </a:p>
          <a:p>
            <a:pPr lvl="1"/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18391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677E2-5ED2-FF42-85EE-73D4CFF9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分交易所统计UpdateTime, </a:t>
            </a:r>
            <a:r>
              <a:rPr lang="en-US" altLang="zh-CN" sz="3700"/>
              <a:t>UpdateMullisec</a:t>
            </a:r>
            <a:r>
              <a:rPr lang="zh-CN" altLang="en-US" sz="3700"/>
              <a:t>单调性</a:t>
            </a:r>
            <a:endParaRPr lang="en-US" sz="37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8D8A4-CA25-764D-8346-B439148E3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结果：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仅对交易所分组：</a:t>
            </a:r>
            <a:r>
              <a:rPr lang="en-US" altLang="zh-CN" sz="2200" dirty="0"/>
              <a:t>INE</a:t>
            </a:r>
            <a:r>
              <a:rPr lang="zh-CN" altLang="en-US" sz="2200" dirty="0"/>
              <a:t>和</a:t>
            </a:r>
            <a:r>
              <a:rPr lang="en-US" altLang="zh-CN" sz="2200" dirty="0"/>
              <a:t>SHFE</a:t>
            </a:r>
            <a:r>
              <a:rPr lang="zh-CN" altLang="en-US" sz="2200" dirty="0"/>
              <a:t>的</a:t>
            </a:r>
            <a:r>
              <a:rPr lang="en-US" sz="2200" dirty="0" err="1"/>
              <a:t>UpdateTime</a:t>
            </a:r>
            <a:r>
              <a:rPr lang="en-US" sz="2200" dirty="0"/>
              <a:t>, </a:t>
            </a:r>
            <a:r>
              <a:rPr lang="en-US" altLang="zh-CN" sz="2200" dirty="0" err="1"/>
              <a:t>UpdateMillisec</a:t>
            </a:r>
            <a:r>
              <a:rPr lang="zh-CN" altLang="en-US" sz="2200" dirty="0"/>
              <a:t>具有单调性，</a:t>
            </a:r>
            <a:r>
              <a:rPr lang="en-US" altLang="zh-CN" sz="2200" dirty="0"/>
              <a:t>CZCE</a:t>
            </a:r>
            <a:r>
              <a:rPr lang="zh-CN" altLang="en-US" sz="2200" dirty="0"/>
              <a:t>和</a:t>
            </a:r>
            <a:r>
              <a:rPr lang="en-US" altLang="zh-CN" sz="2200" dirty="0"/>
              <a:t>DCE</a:t>
            </a:r>
            <a:r>
              <a:rPr lang="zh-CN" altLang="en-US" sz="2200" dirty="0"/>
              <a:t>的</a:t>
            </a:r>
            <a:r>
              <a:rPr lang="en-US" sz="2200" dirty="0" err="1"/>
              <a:t>UpdateTime</a:t>
            </a:r>
            <a:r>
              <a:rPr lang="en-US" sz="2200" dirty="0"/>
              <a:t>, </a:t>
            </a:r>
            <a:r>
              <a:rPr lang="en-US" altLang="zh-CN" sz="2200" dirty="0" err="1"/>
              <a:t>UpdateMillisec</a:t>
            </a:r>
            <a:r>
              <a:rPr lang="zh-CN" altLang="en-US" sz="2200" dirty="0"/>
              <a:t>不具有单调性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对交易所，合约名称分组：所有合约对应的</a:t>
            </a:r>
            <a:r>
              <a:rPr lang="en-US" sz="2200" dirty="0" err="1"/>
              <a:t>UpdateTime</a:t>
            </a:r>
            <a:r>
              <a:rPr lang="en-US" sz="2200" dirty="0"/>
              <a:t>, </a:t>
            </a:r>
            <a:r>
              <a:rPr lang="en-US" altLang="zh-CN" sz="2200" dirty="0" err="1"/>
              <a:t>UpdateMillisec</a:t>
            </a:r>
            <a:r>
              <a:rPr lang="zh-CN" altLang="en-US" sz="2200" dirty="0"/>
              <a:t>都具有单调性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782052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611AD-5D33-BF4F-9B46-17A7679F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zh-CN" altLang="en-US" sz="4000"/>
              <a:t>每个交易所的</a:t>
            </a:r>
            <a:r>
              <a:rPr lang="en-US" altLang="zh-CN" sz="4000"/>
              <a:t>tick</a:t>
            </a:r>
            <a:r>
              <a:rPr lang="zh-CN" altLang="en-US" sz="4000"/>
              <a:t>的推送频率</a:t>
            </a:r>
            <a:endParaRPr lang="en-US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91659-B35A-A44E-8FF3-8D33EB26D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方法：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根据交易所分组后，通过求</a:t>
            </a:r>
            <a:r>
              <a:rPr lang="en-US" altLang="zh-CN" sz="2200" dirty="0" err="1"/>
              <a:t>LocalTime</a:t>
            </a:r>
            <a:r>
              <a:rPr lang="zh-CN" altLang="en-US" sz="2200" dirty="0"/>
              <a:t>字段的一阶差分获得推送间隔，用每组推送间隔画直方图观察推送频率的规律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在交易所分组的基础上再对合约进行分组，求得推送间隔后再根据交易所汇总并画直方图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统计</a:t>
            </a:r>
            <a:r>
              <a:rPr lang="en-US" altLang="zh-CN" sz="2200" dirty="0" err="1"/>
              <a:t>UpdateMillisec</a:t>
            </a:r>
            <a:r>
              <a:rPr lang="zh-CN" altLang="en-US" sz="2200" dirty="0"/>
              <a:t>的分布辅助判断</a:t>
            </a:r>
            <a:endParaRPr lang="en-US" altLang="zh-CN" sz="22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4746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94FB5-14CF-544C-ABCD-57EDBC8F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552"/>
            <a:ext cx="3721608" cy="1103218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+mn-lt"/>
              </a:rPr>
              <a:t>只根据交易所分组</a:t>
            </a:r>
            <a:endParaRPr lang="en-US" sz="2400" dirty="0"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D3FC08-6D68-CDC8-6733-E39BE266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0062"/>
            <a:ext cx="3721608" cy="35903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推送间隔可聚成两组，分别是微秒级和百毫秒级，以微秒级为主。百毫秒级主要聚集在</a:t>
            </a:r>
            <a:r>
              <a:rPr lang="en-US" altLang="zh-CN" sz="2000" dirty="0"/>
              <a:t>0.5</a:t>
            </a:r>
            <a:r>
              <a:rPr lang="zh-CN" altLang="en-US" sz="2000" dirty="0"/>
              <a:t>秒左右。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推测，每秒钟传两次，微秒级的间隔是将整包</a:t>
            </a:r>
            <a:r>
              <a:rPr lang="en-US" sz="2000" dirty="0"/>
              <a:t>tick</a:t>
            </a:r>
            <a:r>
              <a:rPr lang="zh-CN" altLang="en-US" sz="2000" dirty="0"/>
              <a:t>分成每个合约的</a:t>
            </a:r>
            <a:r>
              <a:rPr lang="en-US" sz="2000" dirty="0"/>
              <a:t>tick</a:t>
            </a:r>
            <a:r>
              <a:rPr lang="zh-CN" altLang="en-US" sz="2000" dirty="0"/>
              <a:t>所用的时间。</a:t>
            </a:r>
            <a:endParaRPr lang="en-US" sz="2000" dirty="0"/>
          </a:p>
        </p:txBody>
      </p:sp>
      <p:pic>
        <p:nvPicPr>
          <p:cNvPr id="5" name="Content Placeholder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892483D5-A917-D74B-B4B2-721B2D81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059" y="685334"/>
            <a:ext cx="3692091" cy="2307559"/>
          </a:xfrm>
          <a:prstGeom prst="rect">
            <a:avLst/>
          </a:prstGeom>
        </p:spPr>
      </p:pic>
      <p:pic>
        <p:nvPicPr>
          <p:cNvPr id="7" name="Picture 6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53210D78-9E85-C547-995A-B778B68A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851" y="682781"/>
            <a:ext cx="3686858" cy="2304288"/>
          </a:xfrm>
          <a:prstGeom prst="rect">
            <a:avLst/>
          </a:prstGeom>
        </p:spPr>
      </p:pic>
      <p:pic>
        <p:nvPicPr>
          <p:cNvPr id="9" name="Picture 8" descr="Chart&#10;&#10;Description automatically generated with low confidence">
            <a:extLst>
              <a:ext uri="{FF2B5EF4-FFF2-40B4-BE49-F238E27FC236}">
                <a16:creationId xmlns:a16="http://schemas.microsoft.com/office/drawing/2014/main" id="{D032754A-4307-EB47-930D-DCBEF3E41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59" y="3677477"/>
            <a:ext cx="3692093" cy="2307559"/>
          </a:xfrm>
          <a:prstGeom prst="rect">
            <a:avLst/>
          </a:prstGeom>
        </p:spPr>
      </p:pic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10FF92FE-DD2A-A44D-A255-212BD5572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617" y="3677477"/>
            <a:ext cx="3692092" cy="230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5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94FB5-14CF-544C-ABCD-57EDBC8F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552"/>
            <a:ext cx="3721608" cy="1103218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+mn-lt"/>
              </a:rPr>
              <a:t>根据交易所和合约名称分组</a:t>
            </a:r>
            <a:endParaRPr lang="en-US" sz="2400" dirty="0"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D3FC08-6D68-CDC8-6733-E39BE266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0062"/>
            <a:ext cx="3721608" cy="35903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根据合约名进行差分后，微秒级的推送间隔被去除了。说明微秒级的时间间隔是对同一批推送数据进行处理所消耗的时间。</a:t>
            </a:r>
            <a:endParaRPr lang="en-US" sz="2000" dirty="0"/>
          </a:p>
        </p:txBody>
      </p:sp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E15E3EF5-7764-954F-A7C8-5F00BD3B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756" y="682781"/>
            <a:ext cx="3686861" cy="2304288"/>
          </a:xfrm>
          <a:prstGeom prst="rect">
            <a:avLst/>
          </a:prstGeom>
        </p:spPr>
      </p:pic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1AEF94E8-6977-C549-BBA1-8081D4A9D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617" y="682781"/>
            <a:ext cx="3692093" cy="2307558"/>
          </a:xfrm>
          <a:prstGeom prst="rect">
            <a:avLst/>
          </a:prstGeom>
        </p:spPr>
      </p:pic>
      <p:pic>
        <p:nvPicPr>
          <p:cNvPr id="12" name="Picture 11" descr="A picture containing chart&#10;&#10;Description automatically generated">
            <a:extLst>
              <a:ext uri="{FF2B5EF4-FFF2-40B4-BE49-F238E27FC236}">
                <a16:creationId xmlns:a16="http://schemas.microsoft.com/office/drawing/2014/main" id="{EAD707F0-02B9-A444-9484-7C420E4C8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40" y="3669850"/>
            <a:ext cx="3692092" cy="2307558"/>
          </a:xfrm>
          <a:prstGeom prst="rect">
            <a:avLst/>
          </a:prstGeom>
        </p:spPr>
      </p:pic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418E86AA-A99B-5649-AE64-F96690767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616" y="3673120"/>
            <a:ext cx="3692094" cy="230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35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18F6C-58D1-1248-88FC-567FBE2A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zh-CN" sz="4000"/>
              <a:t>ActionDay, TradingDay</a:t>
            </a:r>
            <a:r>
              <a:rPr lang="zh-CN" altLang="en-US" sz="4000"/>
              <a:t>和实际交易时间的关系</a:t>
            </a:r>
            <a:endParaRPr lang="en-US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9B13-F89F-784A-B8E7-7C13CC0F9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zh-CN" altLang="en-US" sz="2200" dirty="0"/>
              <a:t>方法：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将</a:t>
            </a:r>
            <a:r>
              <a:rPr lang="en-US" altLang="zh-CN" sz="2200" dirty="0" err="1"/>
              <a:t>LocalTime</a:t>
            </a:r>
            <a:r>
              <a:rPr lang="zh-CN" altLang="en-US" sz="2200" dirty="0"/>
              <a:t>转为</a:t>
            </a:r>
            <a:r>
              <a:rPr lang="en-US" altLang="zh-CN" sz="2200" dirty="0"/>
              <a:t>datetime</a:t>
            </a:r>
            <a:r>
              <a:rPr lang="zh-CN" altLang="en-US" sz="2200" dirty="0"/>
              <a:t>格式以便比较。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观察</a:t>
            </a:r>
            <a:r>
              <a:rPr lang="en-US" altLang="zh-CN" sz="2200" dirty="0" err="1"/>
              <a:t>LocalTime</a:t>
            </a:r>
            <a:r>
              <a:rPr lang="zh-CN" altLang="en-US" sz="2200" dirty="0"/>
              <a:t>和</a:t>
            </a:r>
            <a:r>
              <a:rPr lang="en-US" altLang="zh-CN" sz="2200" dirty="0" err="1"/>
              <a:t>UpdateTime</a:t>
            </a:r>
            <a:r>
              <a:rPr lang="zh-CN" altLang="en-US" sz="2200" dirty="0"/>
              <a:t>的极值，确认所有数据都是夜盘数据。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根据交易所分组分别统计</a:t>
            </a:r>
            <a:r>
              <a:rPr lang="en-US" altLang="zh-CN" sz="2200" dirty="0" err="1"/>
              <a:t>ActionDay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TradingDay</a:t>
            </a:r>
            <a:r>
              <a:rPr lang="zh-CN" altLang="en-US" sz="2200" dirty="0"/>
              <a:t>和</a:t>
            </a:r>
            <a:r>
              <a:rPr lang="en-US" altLang="zh-CN" sz="2200" dirty="0" err="1"/>
              <a:t>LocalTime</a:t>
            </a:r>
            <a:r>
              <a:rPr lang="zh-CN" altLang="en-US" sz="2200" dirty="0"/>
              <a:t>的取值分布，</a:t>
            </a:r>
            <a:r>
              <a:rPr lang="en-US" altLang="zh-CN" sz="2200" dirty="0"/>
              <a:t> </a:t>
            </a:r>
            <a:r>
              <a:rPr lang="en-US" altLang="zh-CN" sz="2200" dirty="0" err="1"/>
              <a:t>LocalTime</a:t>
            </a:r>
            <a:r>
              <a:rPr lang="zh-CN" altLang="en-US" sz="2200" dirty="0"/>
              <a:t>的取值精确到</a:t>
            </a:r>
            <a:r>
              <a:rPr lang="en-US" altLang="zh-CN" sz="2200" dirty="0"/>
              <a:t>day</a:t>
            </a:r>
            <a:r>
              <a:rPr lang="zh-CN" altLang="en-US" sz="2200" dirty="0"/>
              <a:t>。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308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94FB5-14CF-544C-ABCD-57EDBC8F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+mn-lt"/>
              </a:rPr>
              <a:t>DCE</a:t>
            </a:r>
            <a:r>
              <a:rPr lang="zh-CN" altLang="en-US" sz="2800" dirty="0">
                <a:latin typeface="+mn-lt"/>
              </a:rPr>
              <a:t>交易所统计结果</a:t>
            </a:r>
            <a:endParaRPr lang="en-US" sz="2800" dirty="0">
              <a:latin typeface="+mn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D3FC08-6D68-CDC8-6733-E39BE266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从统计结果可以看出，数据接收时间为</a:t>
            </a:r>
            <a:r>
              <a:rPr lang="en-US" altLang="zh-CN" sz="2000" dirty="0"/>
              <a:t>12</a:t>
            </a:r>
            <a:r>
              <a:rPr lang="zh-CN" altLang="en-US" sz="2000" dirty="0"/>
              <a:t>月</a:t>
            </a:r>
            <a:r>
              <a:rPr lang="en-US" altLang="zh-CN" sz="2000" dirty="0"/>
              <a:t>21</a:t>
            </a:r>
            <a:r>
              <a:rPr lang="zh-CN" altLang="en-US" sz="2000" dirty="0"/>
              <a:t>日，但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都记录为</a:t>
            </a:r>
            <a:r>
              <a:rPr lang="en-US" altLang="zh-CN" sz="2000" dirty="0"/>
              <a:t>12</a:t>
            </a:r>
            <a:r>
              <a:rPr lang="zh-CN" altLang="en-US" sz="2000" dirty="0"/>
              <a:t>月</a:t>
            </a:r>
            <a:r>
              <a:rPr lang="en-US" altLang="zh-CN" sz="2000" dirty="0"/>
              <a:t>22</a:t>
            </a:r>
            <a:r>
              <a:rPr lang="zh-CN" altLang="en-US" sz="2000" dirty="0"/>
              <a:t>日。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结论：</a:t>
            </a:r>
            <a:r>
              <a:rPr lang="en-US" altLang="zh-CN" sz="2000" dirty="0"/>
              <a:t>DCE</a:t>
            </a:r>
            <a:r>
              <a:rPr lang="zh-CN" altLang="en-US" sz="2000" dirty="0"/>
              <a:t>交易所夜盘数据的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都是交易发生的自然日的下一个交易日。</a:t>
            </a:r>
            <a:endParaRPr lang="en-US" sz="20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F06B479-B2EE-9B4A-8306-F28EDF688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48374"/>
            <a:ext cx="6656832" cy="406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9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94FB5-14CF-544C-ABCD-57EDBC8F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+mn-lt"/>
              </a:rPr>
              <a:t>SHFE</a:t>
            </a:r>
            <a:r>
              <a:rPr lang="zh-CN" altLang="en-US" sz="2800" dirty="0">
                <a:latin typeface="+mn-lt"/>
              </a:rPr>
              <a:t>交易所统计结果</a:t>
            </a:r>
            <a:endParaRPr lang="en-US" sz="2800" dirty="0">
              <a:latin typeface="+mn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D3FC08-6D68-CDC8-6733-E39BE266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从统计结果可以看出，</a:t>
            </a:r>
            <a:r>
              <a:rPr lang="en-US" altLang="zh-CN" sz="2000" dirty="0" err="1"/>
              <a:t>LocalTime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基本可以对齐，但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全部归为</a:t>
            </a:r>
            <a:r>
              <a:rPr lang="en-US" altLang="zh-CN" sz="2000" dirty="0"/>
              <a:t>12</a:t>
            </a:r>
            <a:r>
              <a:rPr lang="zh-CN" altLang="en-US" sz="2000" dirty="0"/>
              <a:t>月</a:t>
            </a:r>
            <a:r>
              <a:rPr lang="en-US" altLang="zh-CN" sz="2000" dirty="0"/>
              <a:t>22</a:t>
            </a:r>
            <a:r>
              <a:rPr lang="zh-CN" altLang="en-US" sz="2000" dirty="0"/>
              <a:t>日。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结论：</a:t>
            </a:r>
            <a:r>
              <a:rPr lang="en-US" altLang="zh-CN" sz="2000" dirty="0"/>
              <a:t>SHFE</a:t>
            </a:r>
            <a:r>
              <a:rPr lang="zh-CN" altLang="en-US" sz="2000" dirty="0"/>
              <a:t>交易所夜盘数据的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在</a:t>
            </a:r>
            <a:r>
              <a:rPr lang="en-US" altLang="zh-CN" sz="2000" dirty="0"/>
              <a:t>0</a:t>
            </a:r>
            <a:r>
              <a:rPr lang="zh-CN" altLang="en-US" sz="2000" dirty="0"/>
              <a:t>点以前是交易发生的自然日，在</a:t>
            </a:r>
            <a:r>
              <a:rPr lang="en-US" altLang="zh-CN" sz="2000" dirty="0"/>
              <a:t>0</a:t>
            </a:r>
            <a:r>
              <a:rPr lang="zh-CN" altLang="en-US" sz="2000" dirty="0"/>
              <a:t>点之后是交易发生的下一个交易日。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是交易发生的下一个交易日。</a:t>
            </a:r>
            <a:endParaRPr lang="en-US" sz="2000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8942451-C72C-1643-94A5-92A40B811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71" y="1306286"/>
            <a:ext cx="6986663" cy="412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4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94FB5-14CF-544C-ABCD-57EDBC8F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+mn-lt"/>
              </a:rPr>
              <a:t>CZCE</a:t>
            </a:r>
            <a:r>
              <a:rPr lang="zh-CN" altLang="en-US" sz="2800" dirty="0">
                <a:latin typeface="+mn-lt"/>
              </a:rPr>
              <a:t>交易所统计结果</a:t>
            </a:r>
            <a:endParaRPr lang="en-US" sz="2800" dirty="0">
              <a:latin typeface="+mn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D3FC08-6D68-CDC8-6733-E39BE266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从统计结果可以看出，</a:t>
            </a:r>
            <a:r>
              <a:rPr lang="en-US" altLang="zh-CN" sz="2000" dirty="0" err="1"/>
              <a:t>LocalTime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都记录为</a:t>
            </a:r>
            <a:r>
              <a:rPr lang="en-US" altLang="zh-CN" sz="2000" dirty="0"/>
              <a:t>12</a:t>
            </a:r>
            <a:r>
              <a:rPr lang="zh-CN" altLang="en-US" sz="2000" dirty="0"/>
              <a:t>月</a:t>
            </a:r>
            <a:r>
              <a:rPr lang="en-US" altLang="zh-CN" sz="2000" dirty="0"/>
              <a:t>21</a:t>
            </a:r>
            <a:r>
              <a:rPr lang="zh-CN" altLang="en-US" sz="2000" dirty="0"/>
              <a:t>日。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结论：</a:t>
            </a:r>
            <a:r>
              <a:rPr lang="en-US" altLang="zh-CN" sz="2000" dirty="0"/>
              <a:t>DCE</a:t>
            </a:r>
            <a:r>
              <a:rPr lang="zh-CN" altLang="en-US" sz="2000" dirty="0"/>
              <a:t>交易所夜盘数据的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都是交易发生的自然日。</a:t>
            </a:r>
            <a:endParaRPr lang="en-US" sz="2000" dirty="0"/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7F99E3B4-3EC6-6249-879A-251DEFA0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66" y="1531831"/>
            <a:ext cx="7084271" cy="350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3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94FB5-14CF-544C-ABCD-57EDBC8F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+mn-lt"/>
              </a:rPr>
              <a:t>SHFE</a:t>
            </a:r>
            <a:r>
              <a:rPr lang="zh-CN" altLang="en-US" sz="2800" dirty="0">
                <a:latin typeface="+mn-lt"/>
              </a:rPr>
              <a:t>交易所统计结果</a:t>
            </a:r>
            <a:endParaRPr lang="en-US" sz="2800" dirty="0">
              <a:latin typeface="+mn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D3FC08-6D68-CDC8-6733-E39BE266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从统计结果可以看出，</a:t>
            </a:r>
            <a:r>
              <a:rPr lang="en-US" altLang="zh-CN" sz="2000" dirty="0" err="1"/>
              <a:t>LocalTime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基本可以对齐，但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全部归为</a:t>
            </a:r>
            <a:r>
              <a:rPr lang="en-US" altLang="zh-CN" sz="2000" dirty="0"/>
              <a:t>12</a:t>
            </a:r>
            <a:r>
              <a:rPr lang="zh-CN" altLang="en-US" sz="2000" dirty="0"/>
              <a:t>月</a:t>
            </a:r>
            <a:r>
              <a:rPr lang="en-US" altLang="zh-CN" sz="2000" dirty="0"/>
              <a:t>22</a:t>
            </a:r>
            <a:r>
              <a:rPr lang="zh-CN" altLang="en-US" sz="2000" dirty="0"/>
              <a:t>日。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结论：</a:t>
            </a:r>
            <a:r>
              <a:rPr lang="en-US" altLang="zh-CN" sz="2000" dirty="0"/>
              <a:t>INE</a:t>
            </a:r>
            <a:r>
              <a:rPr lang="zh-CN" altLang="en-US" sz="2000" dirty="0"/>
              <a:t>交易所夜盘数据的</a:t>
            </a:r>
            <a:r>
              <a:rPr lang="en-US" altLang="zh-CN" sz="2000" dirty="0" err="1"/>
              <a:t>ActionDay</a:t>
            </a:r>
            <a:r>
              <a:rPr lang="zh-CN" altLang="en-US" sz="2000" dirty="0"/>
              <a:t>在</a:t>
            </a:r>
            <a:r>
              <a:rPr lang="en-US" altLang="zh-CN" sz="2000" dirty="0"/>
              <a:t>0</a:t>
            </a:r>
            <a:r>
              <a:rPr lang="zh-CN" altLang="en-US" sz="2000" dirty="0"/>
              <a:t>点以前是交易发生的自然日，在</a:t>
            </a:r>
            <a:r>
              <a:rPr lang="en-US" altLang="zh-CN" sz="2000" dirty="0"/>
              <a:t>0</a:t>
            </a:r>
            <a:r>
              <a:rPr lang="zh-CN" altLang="en-US" sz="2000" dirty="0"/>
              <a:t>点之后是交易发生的下一个交易日。</a:t>
            </a:r>
            <a:r>
              <a:rPr lang="en-US" altLang="zh-CN" sz="2000" dirty="0" err="1"/>
              <a:t>TradingDay</a:t>
            </a:r>
            <a:r>
              <a:rPr lang="zh-CN" altLang="en-US" sz="2000" dirty="0"/>
              <a:t>是交易发生的下一个交易日。</a:t>
            </a:r>
            <a:endParaRPr lang="en-US" sz="20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E6FB492-A610-5540-9C4D-D372955DB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43" y="1523343"/>
            <a:ext cx="6630909" cy="378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91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1A1C2-2952-7849-98E2-40F67923B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对现有数据进行数据检查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FAB44-4CEA-9C4C-B07A-FAB132AA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检查缺失值：无缺失值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检查价格是否为负或</a:t>
            </a:r>
            <a:r>
              <a:rPr lang="en-US" altLang="zh-CN" sz="2200" dirty="0"/>
              <a:t>0</a:t>
            </a:r>
            <a:r>
              <a:rPr lang="zh-CN" altLang="en-US" sz="2200" dirty="0"/>
              <a:t>：价格全部为正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检查</a:t>
            </a:r>
            <a:r>
              <a:rPr lang="en-US" sz="2200" dirty="0" err="1"/>
              <a:t>LastPrice</a:t>
            </a:r>
            <a:r>
              <a:rPr lang="zh-CN" altLang="en-US" sz="2200" dirty="0"/>
              <a:t>是否超过涨停跌停板：无</a:t>
            </a:r>
            <a:r>
              <a:rPr lang="en-US" sz="2200" dirty="0" err="1"/>
              <a:t>LastPrice</a:t>
            </a:r>
            <a:r>
              <a:rPr lang="zh-CN" altLang="en-US" sz="2200" dirty="0"/>
              <a:t>超过涨跌停板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检查</a:t>
            </a:r>
            <a:r>
              <a:rPr lang="en-US" sz="2200" dirty="0" err="1"/>
              <a:t>InstrumentID</a:t>
            </a:r>
            <a:r>
              <a:rPr lang="zh-CN" altLang="en-US" sz="2200" dirty="0"/>
              <a:t>是否对应唯一的</a:t>
            </a:r>
            <a:r>
              <a:rPr lang="en-US" sz="2200" dirty="0" err="1"/>
              <a:t>ExchangeID：InstrumentID</a:t>
            </a:r>
            <a:r>
              <a:rPr lang="zh-CN" altLang="en-US" sz="2200" dirty="0"/>
              <a:t>有唯一对应</a:t>
            </a:r>
            <a:r>
              <a:rPr lang="en-US" sz="2200" dirty="0" err="1"/>
              <a:t>ExchangeID</a:t>
            </a:r>
            <a:r>
              <a:rPr lang="en-US" sz="2200" dirty="0"/>
              <a:t>（</a:t>
            </a:r>
            <a:r>
              <a:rPr lang="zh-CN" altLang="en-US" sz="2200" dirty="0"/>
              <a:t>每个合约只在一个交易所交易）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853282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1A1C2-2952-7849-98E2-40F67923B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对现有数据进行数据检查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FAB44-4CEA-9C4C-B07A-FAB132AAC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检查</a:t>
            </a:r>
            <a:r>
              <a:rPr lang="en-US" sz="2200" dirty="0"/>
              <a:t>Volume</a:t>
            </a:r>
            <a:r>
              <a:rPr lang="zh-CN" altLang="en-US" sz="2200" dirty="0"/>
              <a:t>的单调性：</a:t>
            </a:r>
            <a:r>
              <a:rPr lang="en-US" sz="2200" dirty="0"/>
              <a:t>Volume</a:t>
            </a:r>
            <a:r>
              <a:rPr lang="zh-CN" altLang="en-US" sz="2200" dirty="0"/>
              <a:t>单调递增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检查</a:t>
            </a:r>
            <a:r>
              <a:rPr lang="en-US" sz="2200" dirty="0"/>
              <a:t>volume</a:t>
            </a:r>
            <a:r>
              <a:rPr lang="zh-CN" altLang="en-US" sz="2200" dirty="0"/>
              <a:t>异常值：存在</a:t>
            </a:r>
            <a:r>
              <a:rPr lang="en-US" sz="2200" dirty="0"/>
              <a:t>volume=0</a:t>
            </a:r>
            <a:r>
              <a:rPr lang="zh-CN" altLang="en-US" sz="2200" dirty="0"/>
              <a:t>的情况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检查</a:t>
            </a:r>
            <a:r>
              <a:rPr lang="en-US" sz="2200" dirty="0"/>
              <a:t>Turnover</a:t>
            </a:r>
            <a:r>
              <a:rPr lang="zh-CN" altLang="en-US" sz="2200" dirty="0"/>
              <a:t>的单调性：</a:t>
            </a:r>
            <a:r>
              <a:rPr lang="en-US" sz="2200" dirty="0"/>
              <a:t>Turnover</a:t>
            </a:r>
            <a:r>
              <a:rPr lang="zh-CN" altLang="en-US" sz="2200" dirty="0"/>
              <a:t>单调递增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检查</a:t>
            </a:r>
            <a:r>
              <a:rPr lang="en-US" sz="2200" dirty="0"/>
              <a:t>Turnover</a:t>
            </a:r>
            <a:r>
              <a:rPr lang="zh-CN" altLang="en-US" sz="2200" dirty="0"/>
              <a:t>异常值：存在</a:t>
            </a:r>
            <a:r>
              <a:rPr lang="en-US" sz="2200" dirty="0"/>
              <a:t>Turnover=0</a:t>
            </a:r>
            <a:r>
              <a:rPr lang="zh-CN" altLang="en-US" sz="2200" dirty="0"/>
              <a:t>的情况，与</a:t>
            </a:r>
            <a:r>
              <a:rPr lang="en-US" sz="2200" dirty="0"/>
              <a:t>Volume</a:t>
            </a:r>
            <a:r>
              <a:rPr lang="zh-CN" altLang="en-US" sz="2200" dirty="0"/>
              <a:t>相符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72417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D17A7-5C5D-1840-B7D5-05915CCA2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zh-CN" altLang="en-US" sz="4000"/>
              <a:t>分钟</a:t>
            </a:r>
            <a:r>
              <a:rPr lang="en-US" altLang="zh-CN" sz="4000"/>
              <a:t>bar</a:t>
            </a:r>
            <a:r>
              <a:rPr lang="zh-CN" altLang="en-US" sz="4000"/>
              <a:t>合成</a:t>
            </a:r>
            <a:endParaRPr lang="en-US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520E-23F3-4942-991C-C71C0C3C6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zh-CN" altLang="en-US" sz="2200" dirty="0"/>
              <a:t>代码详见“卓识基金</a:t>
            </a:r>
            <a:r>
              <a:rPr lang="en-US" altLang="zh-CN" sz="2200" dirty="0" err="1"/>
              <a:t>project_code.ipynb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endParaRPr lang="en-US" altLang="zh-CN" sz="2200" dirty="0"/>
          </a:p>
          <a:p>
            <a:r>
              <a:rPr lang="zh-CN" altLang="en-US" sz="2200" dirty="0"/>
              <a:t>结果转为</a:t>
            </a:r>
            <a:r>
              <a:rPr lang="en-US" altLang="zh-CN" sz="2200" dirty="0"/>
              <a:t>pandas</a:t>
            </a:r>
            <a:r>
              <a:rPr lang="zh-CN" altLang="en-US" sz="2200" dirty="0"/>
              <a:t> </a:t>
            </a:r>
            <a:r>
              <a:rPr lang="en-US" altLang="zh-CN" sz="2200" dirty="0" err="1"/>
              <a:t>dataframe</a:t>
            </a:r>
            <a:r>
              <a:rPr lang="zh-CN" altLang="en-US" sz="2200" dirty="0"/>
              <a:t>后存储为</a:t>
            </a:r>
            <a:r>
              <a:rPr lang="en-US" altLang="zh-CN" sz="2200" dirty="0"/>
              <a:t>csv</a:t>
            </a:r>
            <a:r>
              <a:rPr lang="zh-CN" altLang="en-US" sz="2200" dirty="0"/>
              <a:t>文件“</a:t>
            </a:r>
            <a:r>
              <a:rPr lang="en-US" altLang="zh-CN" sz="2200" dirty="0" err="1"/>
              <a:t>minbar_result.csv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endParaRPr lang="en-US" altLang="zh-CN" sz="2200" dirty="0"/>
          </a:p>
          <a:p>
            <a:r>
              <a:rPr lang="zh-CN" altLang="en-US" sz="2200" dirty="0"/>
              <a:t>过滤掉</a:t>
            </a:r>
            <a:r>
              <a:rPr lang="en-US" altLang="zh-CN" sz="2200" dirty="0"/>
              <a:t>Volume</a:t>
            </a:r>
            <a:r>
              <a:rPr lang="zh-CN" altLang="en-US" sz="2200" dirty="0"/>
              <a:t>为</a:t>
            </a:r>
            <a:r>
              <a:rPr lang="en-US" altLang="zh-CN" sz="2200" dirty="0"/>
              <a:t>0</a:t>
            </a:r>
            <a:r>
              <a:rPr lang="zh-CN" altLang="en-US" sz="2200" dirty="0"/>
              <a:t>的</a:t>
            </a:r>
            <a:r>
              <a:rPr lang="en-US" altLang="zh-CN" sz="2200" dirty="0"/>
              <a:t>tick</a:t>
            </a:r>
          </a:p>
        </p:txBody>
      </p:sp>
    </p:spTree>
    <p:extLst>
      <p:ext uri="{BB962C8B-B14F-4D97-AF65-F5344CB8AC3E}">
        <p14:creationId xmlns:p14="http://schemas.microsoft.com/office/powerpoint/2010/main" val="3990517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63FF5A-B9E2-4989-825C-C62CD37CB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D782F-0F6D-E949-A5D2-2ED41A6C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3605572" cy="1676603"/>
          </a:xfrm>
        </p:spPr>
        <p:txBody>
          <a:bodyPr>
            <a:normAutofit/>
          </a:bodyPr>
          <a:lstStyle/>
          <a:p>
            <a:r>
              <a:rPr lang="zh-CN" altLang="en-US" sz="4000"/>
              <a:t>分钟</a:t>
            </a:r>
            <a:r>
              <a:rPr lang="en-US" altLang="zh-CN" sz="4000"/>
              <a:t>bar</a:t>
            </a:r>
            <a:r>
              <a:rPr lang="zh-CN" altLang="en-US" sz="4000"/>
              <a:t>合成</a:t>
            </a:r>
            <a:br>
              <a:rPr lang="en-US" altLang="zh-CN" sz="4000"/>
            </a:br>
            <a:r>
              <a:rPr lang="zh-CN" altLang="en-US" sz="4000"/>
              <a:t>成果展示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2A7A-DBB0-1248-A1C0-0AB60E56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1"/>
            <a:ext cx="3605571" cy="3779520"/>
          </a:xfrm>
        </p:spPr>
        <p:txBody>
          <a:bodyPr>
            <a:normAutofit/>
          </a:bodyPr>
          <a:lstStyle/>
          <a:p>
            <a:r>
              <a:rPr lang="zh-CN" altLang="en-US" sz="1800"/>
              <a:t>合约名称：</a:t>
            </a:r>
            <a:r>
              <a:rPr lang="en-US" altLang="zh-CN" sz="1800"/>
              <a:t>TA201</a:t>
            </a: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7D1452-F0B7-431E-9A24-D3F7103D8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660F4F9-5DF5-4F15-BE6A-CD8648BB1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8267" y="559407"/>
            <a:ext cx="6594522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B053262-128A-E14D-B47E-51D8F9602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20" r="10270"/>
          <a:stretch/>
        </p:blipFill>
        <p:spPr>
          <a:xfrm>
            <a:off x="5283708" y="722376"/>
            <a:ext cx="6263640" cy="54132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49806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63FF5A-B9E2-4989-825C-C62CD37CB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D782F-0F6D-E949-A5D2-2ED41A6C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3605572" cy="1676603"/>
          </a:xfrm>
        </p:spPr>
        <p:txBody>
          <a:bodyPr>
            <a:normAutofit/>
          </a:bodyPr>
          <a:lstStyle/>
          <a:p>
            <a:r>
              <a:rPr lang="zh-CN" altLang="en-US" sz="4000"/>
              <a:t>分钟</a:t>
            </a:r>
            <a:r>
              <a:rPr lang="en-US" altLang="zh-CN" sz="4000"/>
              <a:t>bar</a:t>
            </a:r>
            <a:r>
              <a:rPr lang="zh-CN" altLang="en-US" sz="4000"/>
              <a:t>合成</a:t>
            </a:r>
            <a:br>
              <a:rPr lang="en-US" altLang="zh-CN" sz="4000"/>
            </a:br>
            <a:r>
              <a:rPr lang="zh-CN" altLang="en-US" sz="4000"/>
              <a:t>成果展示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2A7A-DBB0-1248-A1C0-0AB60E56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1"/>
            <a:ext cx="3605571" cy="3779520"/>
          </a:xfrm>
        </p:spPr>
        <p:txBody>
          <a:bodyPr>
            <a:normAutofit/>
          </a:bodyPr>
          <a:lstStyle/>
          <a:p>
            <a:r>
              <a:rPr lang="zh-CN" altLang="en-US" sz="1800"/>
              <a:t>合约名称：</a:t>
            </a:r>
            <a:r>
              <a:rPr lang="en-US" altLang="zh-CN" sz="1800"/>
              <a:t>ag2201</a:t>
            </a: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D1452-F0B7-431E-9A24-D3F7103D8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0">
            <a:extLst>
              <a:ext uri="{FF2B5EF4-FFF2-40B4-BE49-F238E27FC236}">
                <a16:creationId xmlns:a16="http://schemas.microsoft.com/office/drawing/2014/main" id="{A660F4F9-5DF5-4F15-BE6A-CD8648BB1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8267" y="559407"/>
            <a:ext cx="6594522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41C7B100-EA5F-F34E-8857-56F8BAF22E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2" r="13897"/>
          <a:stretch/>
        </p:blipFill>
        <p:spPr>
          <a:xfrm>
            <a:off x="5283708" y="722376"/>
            <a:ext cx="6263640" cy="54132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37741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63FF5A-B9E2-4989-825C-C62CD37CB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D782F-0F6D-E949-A5D2-2ED41A6C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3605572" cy="1676603"/>
          </a:xfrm>
        </p:spPr>
        <p:txBody>
          <a:bodyPr>
            <a:normAutofit/>
          </a:bodyPr>
          <a:lstStyle/>
          <a:p>
            <a:r>
              <a:rPr lang="zh-CN" altLang="en-US" sz="4000"/>
              <a:t>分钟</a:t>
            </a:r>
            <a:r>
              <a:rPr lang="en-US" altLang="zh-CN" sz="4000"/>
              <a:t>bar</a:t>
            </a:r>
            <a:r>
              <a:rPr lang="zh-CN" altLang="en-US" sz="4000"/>
              <a:t>合成</a:t>
            </a:r>
            <a:br>
              <a:rPr lang="en-US" altLang="zh-CN" sz="4000"/>
            </a:br>
            <a:r>
              <a:rPr lang="zh-CN" altLang="en-US" sz="4000"/>
              <a:t>成果展示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2A7A-DBB0-1248-A1C0-0AB60E56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1"/>
            <a:ext cx="3605571" cy="3779520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合约名称：</a:t>
            </a:r>
            <a:r>
              <a:rPr lang="en-US" altLang="zh-CN" sz="1800" dirty="0"/>
              <a:t>sc2204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D1452-F0B7-431E-9A24-D3F7103D8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0">
            <a:extLst>
              <a:ext uri="{FF2B5EF4-FFF2-40B4-BE49-F238E27FC236}">
                <a16:creationId xmlns:a16="http://schemas.microsoft.com/office/drawing/2014/main" id="{A660F4F9-5DF5-4F15-BE6A-CD8648BB1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8267" y="559407"/>
            <a:ext cx="6594522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240BB974-2074-C445-94DB-96CF6167D1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36" r="7153"/>
          <a:stretch/>
        </p:blipFill>
        <p:spPr>
          <a:xfrm>
            <a:off x="5283708" y="722376"/>
            <a:ext cx="6263640" cy="54132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5861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845</Words>
  <Application>Microsoft Macintosh PowerPoint</Application>
  <PresentationFormat>Widescreen</PresentationFormat>
  <Paragraphs>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卓识基金数据测评项目 成果报告</vt:lpstr>
      <vt:lpstr>大纲</vt:lpstr>
      <vt:lpstr>数据检查</vt:lpstr>
      <vt:lpstr>统计LocalTime的单调性</vt:lpstr>
      <vt:lpstr>分交易所统计UpdateTime, UpdateMullisec单调性</vt:lpstr>
      <vt:lpstr>分交易所统计UpdateTime, UpdateMullisec单调性</vt:lpstr>
      <vt:lpstr>每个交易所的tick的推送频率</vt:lpstr>
      <vt:lpstr>只根据交易所分组</vt:lpstr>
      <vt:lpstr>根据交易所和合约名称分组</vt:lpstr>
      <vt:lpstr>ActionDay, TradingDay和实际交易时间的关系</vt:lpstr>
      <vt:lpstr>DCE交易所统计结果</vt:lpstr>
      <vt:lpstr>SHFE交易所统计结果</vt:lpstr>
      <vt:lpstr>CZCE交易所统计结果</vt:lpstr>
      <vt:lpstr>SHFE交易所统计结果</vt:lpstr>
      <vt:lpstr>对现有数据进行数据检查</vt:lpstr>
      <vt:lpstr>对现有数据进行数据检查</vt:lpstr>
      <vt:lpstr>分钟bar合成</vt:lpstr>
      <vt:lpstr>分钟bar合成 成果展示</vt:lpstr>
      <vt:lpstr>分钟bar合成 成果展示</vt:lpstr>
      <vt:lpstr>分钟bar合成 成果展示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卓识基金数据测评项目 成果报告</dc:title>
  <dc:creator>Linghu, Guanjie</dc:creator>
  <cp:lastModifiedBy>Linghu, Guanjie</cp:lastModifiedBy>
  <cp:revision>2</cp:revision>
  <dcterms:created xsi:type="dcterms:W3CDTF">2022-04-05T03:25:34Z</dcterms:created>
  <dcterms:modified xsi:type="dcterms:W3CDTF">2022-04-05T05:00:05Z</dcterms:modified>
</cp:coreProperties>
</file>